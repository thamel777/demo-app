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Goal today: understand WHY we use Git &amp; GitHub, not just memorise commands.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four parts — concepts, branching strategy, the workflow, and fixing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1: the big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= a super-smart save button on YOUR computer. Commits are snapshots you can roll back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= the shared cloud backup. Stores the master copy, hosts reviews, shares commits.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 = a project folder. Branch = a safe copy. The #1 idea: never work directly on main/dev.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Glossary — walk through the words they’ll hear every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2: where the work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= stable, off-limits, senior-only. dev = integration branch and YOUR starting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 (local) is just a copy; origin/dev on GitHub is the source of truth. Always pull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 golden rules — following these avoids ~90% of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3: the step-by-step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 once (permission + clone). Every task: checkout dev, pull, then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 loop: add + commit often. Use conventional commit types (feat, fix, docs, style, refactor).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your branch and open a PR. A good PR answers what/why/how-to-test, and flags anything out of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Changes requested → commit + push again. Approved → lead merges. Then delete your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4: problems are normal and recoverable.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everyday fixes: git stash for uncommitted changes; merge dev in to sync an old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conflicts: normal! Delete the markers, pick the right code, add +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Rejected push → pull then push. Greyed merge button → a protection check hasn’t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loop: branch → commit → push → PR → merge → clean up.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3.png"/><Relationship Id="rId5" Type="http://schemas.openxmlformats.org/officeDocument/2006/relationships/image" Target="../media/image-20-3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51560"/>
            <a:ext cx="3566160" cy="0"/>
          </a:xfrm>
          <a:prstGeom prst="line">
            <a:avLst/>
          </a:prstGeom>
          <a:noFill/>
          <a:ln w="25400">
            <a:solidFill>
              <a:srgbClr val="3138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1051560"/>
            <a:ext cx="502920" cy="-685800"/>
          </a:xfrm>
          <a:prstGeom prst="line">
            <a:avLst/>
          </a:prstGeom>
          <a:noFill/>
          <a:ln w="25400">
            <a:solidFill>
              <a:srgbClr val="3A42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65008" y="978408"/>
            <a:ext cx="146304" cy="146304"/>
          </a:xfrm>
          <a:prstGeom prst="ellipse">
            <a:avLst/>
          </a:prstGeom>
          <a:solidFill>
            <a:srgbClr val="46505B"/>
          </a:solidFill>
          <a:ln/>
        </p:spPr>
      </p:sp>
      <p:sp>
        <p:nvSpPr>
          <p:cNvPr id="5" name="Shape 3"/>
          <p:cNvSpPr/>
          <p:nvPr/>
        </p:nvSpPr>
        <p:spPr>
          <a:xfrm>
            <a:off x="8979408" y="978408"/>
            <a:ext cx="146304" cy="146304"/>
          </a:xfrm>
          <a:prstGeom prst="ellipse">
            <a:avLst/>
          </a:prstGeom>
          <a:solidFill>
            <a:srgbClr val="46505B"/>
          </a:solidFill>
          <a:ln/>
        </p:spPr>
      </p:sp>
      <p:sp>
        <p:nvSpPr>
          <p:cNvPr id="6" name="Shape 4"/>
          <p:cNvSpPr/>
          <p:nvPr/>
        </p:nvSpPr>
        <p:spPr>
          <a:xfrm>
            <a:off x="10625328" y="978408"/>
            <a:ext cx="146304" cy="146304"/>
          </a:xfrm>
          <a:prstGeom prst="ellipse">
            <a:avLst/>
          </a:prstGeom>
          <a:solidFill>
            <a:srgbClr val="46505B"/>
          </a:solidFill>
          <a:ln/>
        </p:spPr>
      </p:sp>
      <p:sp>
        <p:nvSpPr>
          <p:cNvPr id="7" name="Shape 5"/>
          <p:cNvSpPr/>
          <p:nvPr/>
        </p:nvSpPr>
        <p:spPr>
          <a:xfrm>
            <a:off x="9208008" y="292608"/>
            <a:ext cx="146304" cy="146304"/>
          </a:xfrm>
          <a:prstGeom prst="ellipse">
            <a:avLst/>
          </a:prstGeom>
          <a:solidFill>
            <a:srgbClr val="4650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TRAINING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46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C4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Version Control</a:t>
            </a:r>
            <a:endParaRPr lang="en-US" sz="2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rgbClr val="C4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Team Collaboration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777240" y="5074920"/>
            <a:ext cx="868680" cy="86868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12" name="Image 0" descr="/home/claude/gitdeck/icons/FaGitAlt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350" y="5266030"/>
            <a:ext cx="486461" cy="48646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783080" y="5074920"/>
            <a:ext cx="868680" cy="86868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14" name="Image 1" descr="/home/claude/gitdeck/icons/FaGithu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190" y="5266030"/>
            <a:ext cx="486461" cy="48646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788920" y="5074920"/>
            <a:ext cx="868680" cy="86868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16" name="Image 2" descr="/home/claude/gitdeck/icons/FaCodeBranch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6090" y="529209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31920" y="52303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WHY — not just the commands.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 today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39112"/>
            <a:ext cx="822960" cy="822960"/>
          </a:xfrm>
          <a:prstGeom prst="ellipse">
            <a:avLst/>
          </a:prstGeom>
          <a:solidFill>
            <a:srgbClr val="F05032"/>
          </a:solidFill>
          <a:ln/>
        </p:spPr>
      </p:sp>
      <p:pic>
        <p:nvPicPr>
          <p:cNvPr id="6" name="Image 0" descr="/home/claude/gitdeck/icons/FaLight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44852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0" y="18745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E9ED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07568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606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“Big Why” behind Git, GitHub, repos &amp; branches.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55080" y="16916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0" y="2039112"/>
            <a:ext cx="822960" cy="822960"/>
          </a:xfrm>
          <a:prstGeom prst="ellipse">
            <a:avLst/>
          </a:prstGeom>
          <a:solidFill>
            <a:srgbClr val="F05032"/>
          </a:solidFill>
          <a:ln/>
        </p:spPr>
      </p:sp>
      <p:pic>
        <p:nvPicPr>
          <p:cNvPr id="12" name="Image 1" descr="/home/claude/gitdeck/icons/FaCodeBra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60" y="224485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378440" y="18745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E9ED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6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207568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 Strategy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0" y="2606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“Where” — main, dev, and the golden rules.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42062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4553712"/>
            <a:ext cx="822960" cy="822960"/>
          </a:xfrm>
          <a:prstGeom prst="ellipse">
            <a:avLst/>
          </a:prstGeom>
          <a:solidFill>
            <a:srgbClr val="F05032"/>
          </a:solidFill>
          <a:ln/>
        </p:spPr>
      </p:sp>
      <p:pic>
        <p:nvPicPr>
          <p:cNvPr id="18" name="Image 2" descr="/home/claude/gitdeck/icons/FaTermin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759452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72000" y="43891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E9ED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600" dirty="0"/>
          </a:p>
        </p:txBody>
      </p:sp>
      <p:sp>
        <p:nvSpPr>
          <p:cNvPr id="20" name="Text 15"/>
          <p:cNvSpPr txBox="1"/>
          <p:nvPr/>
        </p:nvSpPr>
        <p:spPr>
          <a:xfrm>
            <a:off x="1874520" y="459028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1874520" y="51206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“How-To” — clone, commit, push, pull request.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55080" y="42062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75120" y="4553712"/>
            <a:ext cx="822960" cy="822960"/>
          </a:xfrm>
          <a:prstGeom prst="ellipse">
            <a:avLst/>
          </a:prstGeom>
          <a:solidFill>
            <a:srgbClr val="F05032"/>
          </a:solidFill>
          <a:ln/>
        </p:spPr>
      </p:sp>
      <p:pic>
        <p:nvPicPr>
          <p:cNvPr id="24" name="Image 3" descr="/home/claude/gitdeck/icons/FaWren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860" y="4759452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378440" y="43891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E9ED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600" dirty="0"/>
          </a:p>
        </p:txBody>
      </p:sp>
      <p:sp>
        <p:nvSpPr>
          <p:cNvPr id="26" name="Text 20"/>
          <p:cNvSpPr txBox="1"/>
          <p:nvPr/>
        </p:nvSpPr>
        <p:spPr>
          <a:xfrm>
            <a:off x="7680960" y="459028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&amp; Fixes</a:t>
            </a:r>
            <a:endParaRPr lang="en-US" sz="2200" dirty="0"/>
          </a:p>
        </p:txBody>
      </p:sp>
      <p:sp>
        <p:nvSpPr>
          <p:cNvPr id="27" name="Text 21"/>
          <p:cNvSpPr txBox="1"/>
          <p:nvPr/>
        </p:nvSpPr>
        <p:spPr>
          <a:xfrm>
            <a:off x="7680960" y="51206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conflicts, rejected pushes &amp; how to recover.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745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D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38328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364992" y="2697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Concepts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“Big Why” — what these tools are and why they matter.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149840" y="640080"/>
            <a:ext cx="1188720" cy="118872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7" name="Image 0" descr="/home/claude/gitdeck/icons/FaLightbulb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7020" y="93726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Git?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a </a:t>
            </a:r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C43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“super-smart Save button”</a:t>
            </a:r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lives on your computer.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658368" cy="658368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6" name="Image 0" descr="/home/claude/gitdeck/icons/FaFloppyDisk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8163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6151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a video game save point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9626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“save” and create a checkpoint you can return to anytime.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703320"/>
            <a:ext cx="658368" cy="658368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10" name="Image 1" descr="/home/claude/gitdeck/icons/FaCodeCommit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86791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36667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points are called commits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40142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commit is a full snapshot of your entire project.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754880"/>
            <a:ext cx="658368" cy="658368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14" name="Image 2" descr="/home/claude/gitdeck/icons/FaArrowsRotate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91947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47183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Undo any mistake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50657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history means you can always roll back to a working state.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675120" y="1691640"/>
            <a:ext cx="4983480" cy="4480560"/>
          </a:xfrm>
          <a:prstGeom prst="roundRect">
            <a:avLst>
              <a:gd name="adj" fmla="val 1837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694944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HISTORY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452360" y="2606040"/>
            <a:ext cx="0" cy="3108960"/>
          </a:xfrm>
          <a:prstGeom prst="line">
            <a:avLst/>
          </a:prstGeom>
          <a:noFill/>
          <a:ln w="38100">
            <a:solidFill>
              <a:srgbClr val="2D333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33488" y="2514600"/>
            <a:ext cx="237744" cy="237744"/>
          </a:xfrm>
          <a:prstGeom prst="ellipse">
            <a:avLst/>
          </a:prstGeom>
          <a:solidFill>
            <a:srgbClr val="58636D"/>
          </a:solidFill>
          <a:ln w="25400">
            <a:solidFill>
              <a:srgbClr val="1B1F24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818120" y="24323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initial project setup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333488" y="3337560"/>
            <a:ext cx="237744" cy="237744"/>
          </a:xfrm>
          <a:prstGeom prst="ellipse">
            <a:avLst/>
          </a:prstGeom>
          <a:solidFill>
            <a:srgbClr val="58636D"/>
          </a:solidFill>
          <a:ln w="25400">
            <a:solidFill>
              <a:srgbClr val="1B1F24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818120" y="32552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add homepage layout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7333488" y="4160520"/>
            <a:ext cx="237744" cy="237744"/>
          </a:xfrm>
          <a:prstGeom prst="ellipse">
            <a:avLst/>
          </a:prstGeom>
          <a:solidFill>
            <a:srgbClr val="58636D"/>
          </a:solidFill>
          <a:ln w="25400">
            <a:solidFill>
              <a:srgbClr val="1B1F24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818120" y="40782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correct nav spacing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7333488" y="4983480"/>
            <a:ext cx="237744" cy="237744"/>
          </a:xfrm>
          <a:prstGeom prst="ellipse">
            <a:avLst/>
          </a:prstGeom>
          <a:solidFill>
            <a:srgbClr val="F05032"/>
          </a:solidFill>
          <a:ln w="25400">
            <a:solidFill>
              <a:srgbClr val="1B1F24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818120" y="49011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build contact form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6949440" y="5760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each dot = one commit (a saved snapshot)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GitHub?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Git is your local save button, GitHub is the </a:t>
            </a:r>
            <a:pPr indent="0" marL="0">
              <a:buNone/>
            </a:pPr>
            <a:r>
              <a:rPr lang="en-US" sz="1900" b="1" dirty="0">
                <a:solidFill>
                  <a:srgbClr val="C43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cloud backup</a:t>
            </a:r>
            <a:pPr indent="0" marL="0">
              <a:buNone/>
            </a:pPr>
            <a:r>
              <a:rPr lang="en-US" sz="19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whole team shares.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868680" cy="868680"/>
          </a:xfrm>
          <a:prstGeom prst="ellipse">
            <a:avLst/>
          </a:prstGeom>
          <a:solidFill>
            <a:srgbClr val="F05032"/>
          </a:solidFill>
          <a:ln/>
        </p:spPr>
      </p:sp>
      <p:pic>
        <p:nvPicPr>
          <p:cNvPr id="7" name="Image 0" descr="/home/claude/gitdeck/icons/Fa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823210"/>
            <a:ext cx="434340" cy="4343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611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Stores the master copy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069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official, shared version of every project.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79976" y="228600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0016" y="2606040"/>
            <a:ext cx="868680" cy="868680"/>
          </a:xfrm>
          <a:prstGeom prst="ellipse">
            <a:avLst/>
          </a:prstGeom>
          <a:solidFill>
            <a:srgbClr val="F05032"/>
          </a:solidFill>
          <a:ln/>
        </p:spPr>
      </p:sp>
      <p:pic>
        <p:nvPicPr>
          <p:cNvPr id="12" name="Image 1" descr="/home/claude/gitdeck/icons/Fa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186" y="2823210"/>
            <a:ext cx="434340" cy="4343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00016" y="3611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review code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700016" y="4069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Teammates read, comment on and approve each other’s work.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211312" y="228600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31352" y="2606040"/>
            <a:ext cx="868680" cy="868680"/>
          </a:xfrm>
          <a:prstGeom prst="ellipse">
            <a:avLst/>
          </a:prstGeom>
          <a:solidFill>
            <a:srgbClr val="F05032"/>
          </a:solidFill>
          <a:ln/>
        </p:spPr>
      </p:sp>
      <p:pic>
        <p:nvPicPr>
          <p:cNvPr id="17" name="Image 2" descr="/home/claude/gitdeck/icons/FaClou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522" y="282321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31352" y="3611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Shares your save points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531352" y="4069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commits up so the whole team can pull them down.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48640" y="4892040"/>
            <a:ext cx="11109960" cy="1280160"/>
          </a:xfrm>
          <a:prstGeom prst="roundRect">
            <a:avLst>
              <a:gd name="adj" fmla="val 6429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68680" y="5193792"/>
            <a:ext cx="685800" cy="68580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22" name="Image 3" descr="/home/claude/gitdeck/icons/FaGitAlt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" y="534466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91640" y="5193792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your local “save button” on your machine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126480" y="5120640"/>
            <a:ext cx="0" cy="822960"/>
          </a:xfrm>
          <a:prstGeom prst="line">
            <a:avLst/>
          </a:prstGeom>
          <a:noFill/>
          <a:ln w="19050">
            <a:solidFill>
              <a:srgbClr val="2D333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400800" y="5193792"/>
            <a:ext cx="685800" cy="68580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26" name="Image 4" descr="/home/claude/gitdeck/icons/FaGithub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676" y="5344668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23760" y="519379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</a:t>
            </a:r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cloud backup the whole team shares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Repositories &amp; Branches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868680" cy="86868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6" name="Image 0" descr="/home/claude/gitdeck/icons/FaFolderTre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28850"/>
            <a:ext cx="434340" cy="4343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(“repo”)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39572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fancy word for a project’s folder. One project = one repo.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474720"/>
            <a:ext cx="5257800" cy="2697480"/>
          </a:xfrm>
          <a:prstGeom prst="roundRect">
            <a:avLst>
              <a:gd name="adj" fmla="val 3051"/>
            </a:avLst>
          </a:prstGeom>
          <a:solidFill>
            <a:srgbClr val="FFF4F0"/>
          </a:solidFill>
          <a:ln w="12700">
            <a:solidFill>
              <a:srgbClr val="F05032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794760"/>
            <a:ext cx="868680" cy="868680"/>
          </a:xfrm>
          <a:prstGeom prst="ellipse">
            <a:avLst/>
          </a:prstGeom>
          <a:solidFill>
            <a:srgbClr val="F05032"/>
          </a:solidFill>
          <a:ln/>
        </p:spPr>
      </p:sp>
      <p:pic>
        <p:nvPicPr>
          <p:cNvPr id="11" name="Image 1" descr="/home/claude/gitdeck/icons/FaCodeBra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30" y="401193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28800" y="3767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43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828800" y="4133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CONCEPT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457200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 copy of the project where you work without touching the master copy. Think of main as a tree trunk — your feature branch grows off it, then merges back when it’s done.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126480" y="1691640"/>
            <a:ext cx="5532120" cy="4480560"/>
          </a:xfrm>
          <a:prstGeom prst="roundRect">
            <a:avLst>
              <a:gd name="adj" fmla="val 1837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640080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BRANCH, START TO FINISH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583680" y="3977640"/>
            <a:ext cx="4572000" cy="0"/>
          </a:xfrm>
          <a:prstGeom prst="line">
            <a:avLst/>
          </a:prstGeom>
          <a:noFill/>
          <a:ln w="38100">
            <a:solidFill>
              <a:srgbClr val="5B646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863840" y="3154680"/>
            <a:ext cx="2011680" cy="0"/>
          </a:xfrm>
          <a:prstGeom prst="line">
            <a:avLst/>
          </a:prstGeom>
          <a:noFill/>
          <a:ln w="38100">
            <a:solidFill>
              <a:srgbClr val="F0503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06640" y="3977640"/>
            <a:ext cx="457200" cy="-822960"/>
          </a:xfrm>
          <a:prstGeom prst="line">
            <a:avLst/>
          </a:prstGeom>
          <a:noFill/>
          <a:ln w="38100">
            <a:solidFill>
              <a:srgbClr val="F0503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875520" y="3154680"/>
            <a:ext cx="457200" cy="822960"/>
          </a:xfrm>
          <a:prstGeom prst="line">
            <a:avLst/>
          </a:prstGeom>
          <a:noFill/>
          <a:ln w="38100">
            <a:solidFill>
              <a:srgbClr val="F0503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958584" y="3895344"/>
            <a:ext cx="164592" cy="164592"/>
          </a:xfrm>
          <a:prstGeom prst="ellipse">
            <a:avLst/>
          </a:prstGeom>
          <a:solidFill>
            <a:srgbClr val="5B646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781544" y="3895344"/>
            <a:ext cx="164592" cy="164592"/>
          </a:xfrm>
          <a:prstGeom prst="ellipse">
            <a:avLst/>
          </a:prstGeom>
          <a:solidFill>
            <a:srgbClr val="5B646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0067544" y="3895344"/>
            <a:ext cx="164592" cy="164592"/>
          </a:xfrm>
          <a:prstGeom prst="ellipse">
            <a:avLst/>
          </a:prstGeom>
          <a:solidFill>
            <a:srgbClr val="5B646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844784" y="3895344"/>
            <a:ext cx="164592" cy="164592"/>
          </a:xfrm>
          <a:prstGeom prst="ellipse">
            <a:avLst/>
          </a:prstGeom>
          <a:solidFill>
            <a:srgbClr val="5B646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330184" y="3072384"/>
            <a:ext cx="164592" cy="164592"/>
          </a:xfrm>
          <a:prstGeom prst="ellipse">
            <a:avLst/>
          </a:prstGeom>
          <a:solidFill>
            <a:srgbClr val="F050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9061704" y="3072384"/>
            <a:ext cx="164592" cy="164592"/>
          </a:xfrm>
          <a:prstGeom prst="ellipse">
            <a:avLst/>
          </a:prstGeom>
          <a:solidFill>
            <a:srgbClr val="F0503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537960" y="41056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7818120" y="2770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3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6400800" y="50749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AE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branch never affects the trunk. main stays stable and clean the whole time.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vocabulary you’ll hear daily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92808"/>
            <a:ext cx="512064" cy="512064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6" name="Image 0" descr="/home/claude/gitdeck/icons/FaCodeCommit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208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013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43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1488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 point — a snapshot of your code.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08776" y="169164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91656" y="1892808"/>
            <a:ext cx="512064" cy="512064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11" name="Image 1" descr="/home/claude/gitdeck/icons/FaClone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0208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077456" y="18013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43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7077456" y="21488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first-ever download of a repo.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278892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2990088"/>
            <a:ext cx="512064" cy="512064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16" name="Image 2" descr="/home/claude/gitdeck/icons/FaUpload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11810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28986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43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246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local commits to GitHub.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08776" y="278892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91656" y="2990088"/>
            <a:ext cx="512064" cy="512064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21" name="Image 3" descr="/home/claude/gitdeck/icons/FaDownload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311810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77456" y="289864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43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077456" y="3246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latest commits from GitHub.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388620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31520" y="4087368"/>
            <a:ext cx="512064" cy="512064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26" name="Image 4" descr="/home/claude/gitdeck/icons/FaCodeMerge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21538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39959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43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1417320" y="43434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commits from one branch into another.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208776" y="388620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91656" y="4087368"/>
            <a:ext cx="512064" cy="512064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31" name="Image 5" descr="/home/claude/gitdeck/icons/FaCodePullRequest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421538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077456" y="39959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43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 (PR)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7077456" y="43434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request to merge — where review happens.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548640" y="498348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31520" y="5184648"/>
            <a:ext cx="512064" cy="512064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36" name="Image 6" descr="/home/claude/gitdeck/icons/FaCloud_oran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5312664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417320" y="50932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43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endParaRPr lang="en-US" sz="1550" dirty="0"/>
          </a:p>
        </p:txBody>
      </p:sp>
      <p:sp>
        <p:nvSpPr>
          <p:cNvPr id="38" name="Text 29"/>
          <p:cNvSpPr txBox="1"/>
          <p:nvPr/>
        </p:nvSpPr>
        <p:spPr>
          <a:xfrm>
            <a:off x="1417320" y="54406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remote repo on GitHub (origin/dev).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6208776" y="498348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391656" y="5184648"/>
            <a:ext cx="512064" cy="512064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41" name="Image 7" descr="/home/claude/gitdeck/icons/FaTriangleExclamation_oran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2" y="5312664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077456" y="509320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43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</a:t>
            </a:r>
            <a:endParaRPr lang="en-US" sz="1550" dirty="0"/>
          </a:p>
        </p:txBody>
      </p:sp>
      <p:sp>
        <p:nvSpPr>
          <p:cNvPr id="43" name="Text 33"/>
          <p:cNvSpPr txBox="1"/>
          <p:nvPr/>
        </p:nvSpPr>
        <p:spPr>
          <a:xfrm>
            <a:off x="7077456" y="544068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edited the same line — needs a human.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745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D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38328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364992" y="2697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 Strategy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“Where” — which branches exist and the rules for using them.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149840" y="640080"/>
            <a:ext cx="1188720" cy="118872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7" name="Image 0" descr="/home/claude/gitdeck/icons/FaCodeBranch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7020" y="93726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STRATEGY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branches we never touch directly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914400" cy="91440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6" name="Image 0" descr="/home/claude/gitdeck/icons/FaLock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402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(a.k.a. “master”)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154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429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100% stable code customers use right now.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114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final, published book on sale in stores.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ACCESS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5349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Off-limits. Only senior leads manage main.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217920" y="169164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FFF4F0"/>
          </a:solidFill>
          <a:ln w="12700">
            <a:solidFill>
              <a:srgbClr val="F05032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37960" y="2011680"/>
            <a:ext cx="914400" cy="914400"/>
          </a:xfrm>
          <a:prstGeom prst="ellipse">
            <a:avLst/>
          </a:prstGeom>
          <a:solidFill>
            <a:srgbClr val="F05032"/>
          </a:solidFill>
          <a:ln/>
        </p:spPr>
      </p:sp>
      <p:pic>
        <p:nvPicPr>
          <p:cNvPr id="17" name="Image 1" descr="/home/claude/gitdeck/icons/FaCodeBra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4028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63524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3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24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542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3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(a.k.a. “develop”)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537960" y="3154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6537960" y="3429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branch — new features are merged &amp; tested together here.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6537960" y="4114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6537960" y="4389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“final draft” where all chapters come together.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6537960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ACCESS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6537960" y="5349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starting point for every task.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STRATEGY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vs. Remote — the “Source of Truth”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288036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777240" cy="77724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6" name="Image 0" descr="/home/claude/gitdeck/icons/FaTerminal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29743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LOCAL COPY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0632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 on your computer. Just a copy — it can fall out of date the moment a teammate merges something.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37960" y="1783080"/>
            <a:ext cx="5120640" cy="2880360"/>
          </a:xfrm>
          <a:prstGeom prst="roundRect">
            <a:avLst>
              <a:gd name="adj" fmla="val 2857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0" y="2103120"/>
            <a:ext cx="777240" cy="77724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12" name="Image 1" descr="/home/claude/gitdeck/icons/FaCloud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310" y="229743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81812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origin/dev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781812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SOURCE OF TRUTH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858000" y="30632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branch on GitHub (“origin”). This is the official version the whole team trusts.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4892040"/>
            <a:ext cx="11109960" cy="1280160"/>
          </a:xfrm>
          <a:prstGeom prst="roundRect">
            <a:avLst>
              <a:gd name="adj" fmla="val 6429"/>
            </a:avLst>
          </a:prstGeom>
          <a:solidFill>
            <a:srgbClr val="FFF4F0"/>
          </a:solidFill>
          <a:ln w="12700">
            <a:solidFill>
              <a:srgbClr val="F05032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5193792"/>
            <a:ext cx="685800" cy="685800"/>
          </a:xfrm>
          <a:prstGeom prst="ellipse">
            <a:avLst/>
          </a:prstGeom>
          <a:solidFill>
            <a:srgbClr val="F05032"/>
          </a:solidFill>
          <a:ln/>
        </p:spPr>
      </p:sp>
      <p:pic>
        <p:nvPicPr>
          <p:cNvPr id="18" name="Image 2" descr="/home/claude/gitdeck/icons/FaCircleExclamati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5365242"/>
            <a:ext cx="342900" cy="3429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37360" y="50749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C43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habit: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starting any new work, run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C438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origin dev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 match the Source of Truth.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STRATEGY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 golden rules of branching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these and you’ll avoid 90% of all common problems.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1099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391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050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508760" y="2039112"/>
            <a:ext cx="457200" cy="45720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9" name="Image 0" descr="/home/claude/gitdeck/icons/FaBa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153412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194560" y="19933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commit to main or dev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19933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only ever happens on feature/ or fix/ branches.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2770632"/>
            <a:ext cx="11109960" cy="786384"/>
          </a:xfrm>
          <a:prstGeom prst="roundRect">
            <a:avLst>
              <a:gd name="adj" fmla="val 10465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29352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0503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1508760" y="2935224"/>
            <a:ext cx="457200" cy="45720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16" name="Image 1" descr="/home/claude/gitdeck/icons/FaArrowsRota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060" y="3049524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194560" y="28895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start from an up-to-date dev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7223760" y="28895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checkout dev → git pull origin dev → then branch.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666744"/>
            <a:ext cx="111099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77240" y="3831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0503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772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1508760" y="3831336"/>
            <a:ext cx="457200" cy="45720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23" name="Image 2" descr="/home/claude/gitdeck/icons/FaTa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3945636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2194560" y="378561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your branch clearly</a:t>
            </a:r>
            <a:endParaRPr lang="en-US" sz="1700" dirty="0"/>
          </a:p>
        </p:txBody>
      </p:sp>
      <p:sp>
        <p:nvSpPr>
          <p:cNvPr id="25" name="Text 20"/>
          <p:cNvSpPr txBox="1"/>
          <p:nvPr/>
        </p:nvSpPr>
        <p:spPr>
          <a:xfrm>
            <a:off x="7223760" y="378561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feature/add-contact-form beats a vague feature/mybranch.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548640" y="4562856"/>
            <a:ext cx="11109960" cy="786384"/>
          </a:xfrm>
          <a:prstGeom prst="roundRect">
            <a:avLst>
              <a:gd name="adj" fmla="val 10465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77240" y="47274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05032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77240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1508760" y="4727448"/>
            <a:ext cx="457200" cy="45720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30" name="Image 3" descr="/home/claude/gitdeck/icons/FaCodeBran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060" y="4841748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2194560" y="46817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branches small &amp; focused</a:t>
            </a:r>
            <a:endParaRPr lang="en-US" sz="1700" dirty="0"/>
          </a:p>
        </p:txBody>
      </p:sp>
      <p:sp>
        <p:nvSpPr>
          <p:cNvPr id="32" name="Text 26"/>
          <p:cNvSpPr txBox="1"/>
          <p:nvPr/>
        </p:nvSpPr>
        <p:spPr>
          <a:xfrm>
            <a:off x="7223760" y="468172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task = one branch. Don’t bundle unrelated work.</a:t>
            </a:r>
            <a:endParaRPr lang="en-US" sz="1350" dirty="0"/>
          </a:p>
        </p:txBody>
      </p:sp>
      <p:sp>
        <p:nvSpPr>
          <p:cNvPr id="33" name="Shape 27"/>
          <p:cNvSpPr/>
          <p:nvPr/>
        </p:nvSpPr>
        <p:spPr>
          <a:xfrm>
            <a:off x="548640" y="5458968"/>
            <a:ext cx="111099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77240" y="56235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05032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77724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Shape 30"/>
          <p:cNvSpPr/>
          <p:nvPr/>
        </p:nvSpPr>
        <p:spPr>
          <a:xfrm>
            <a:off x="1508760" y="5623560"/>
            <a:ext cx="457200" cy="45720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37" name="Image 4" descr="/home/claude/gitdeck/icons/FaArrowRightArrowLef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060" y="5737860"/>
            <a:ext cx="228600" cy="22860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2194560" y="5577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early, sync often</a:t>
            </a:r>
            <a:endParaRPr lang="en-US" sz="1700" dirty="0"/>
          </a:p>
        </p:txBody>
      </p:sp>
      <p:sp>
        <p:nvSpPr>
          <p:cNvPr id="39" name="Text 32"/>
          <p:cNvSpPr txBox="1"/>
          <p:nvPr/>
        </p:nvSpPr>
        <p:spPr>
          <a:xfrm>
            <a:off x="7223760" y="55778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dev in daily to fix small conflicts, not one scary one.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745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D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38328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364992" y="2697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“How-To” — your step-by-step guide for every task.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149840" y="640080"/>
            <a:ext cx="1188720" cy="118872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7" name="Image 0" descr="/home/claude/gitdeck/icons/FaTerminal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7020" y="93726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STEPS 1–2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up, then start every task the same way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40080" cy="64008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5" name="Image 0" descr="/home/claude/gitdeck/icons/FaKey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permission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1031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GitHub username → accept the collaborator invite email.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640080" cy="64008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9" name="Image 1" descr="/home/claude/gitdeck/icons/FaClone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33147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3108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(one time)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34747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downloads a full copy of the repo to your machine.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526280"/>
            <a:ext cx="640080" cy="64008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13" name="Image 2" descr="/home/claude/gitdeck/icons/FaCodeBranch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46863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4480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for each task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8463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 for new work · fix/ for bugs · hotfix/ for emergencies.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989320" y="1783080"/>
            <a:ext cx="5669280" cy="4297680"/>
          </a:xfrm>
          <a:prstGeom prst="roundRect">
            <a:avLst>
              <a:gd name="adj" fmla="val 127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245352" y="198424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3"/>
          <p:cNvSpPr/>
          <p:nvPr/>
        </p:nvSpPr>
        <p:spPr>
          <a:xfrm>
            <a:off x="6409944" y="198424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4"/>
          <p:cNvSpPr/>
          <p:nvPr/>
        </p:nvSpPr>
        <p:spPr>
          <a:xfrm>
            <a:off x="6574536" y="198424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245352" y="2240280"/>
            <a:ext cx="5157216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switch to dev and get the latest</a:t>
            </a:r>
            <a:endParaRPr lang="en-US" sz="14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dev</a:t>
            </a:r>
            <a:endParaRPr lang="en-US" sz="14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origin dev</a:t>
            </a:r>
            <a:endParaRPr lang="en-US" sz="14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 your safe feature branch</a:t>
            </a:r>
            <a:endParaRPr lang="en-US" sz="14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-b \</a:t>
            </a:r>
            <a:endParaRPr lang="en-US" sz="14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feature/add-contact-form</a:t>
            </a:r>
            <a:endParaRPr lang="en-US" sz="14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 are now safe to start working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STEP 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commit loop &amp; good messages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code, save checkpoints often: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1783080"/>
          </a:xfrm>
          <a:prstGeom prst="roundRect">
            <a:avLst>
              <a:gd name="adj" fmla="val 307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5856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225856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225856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514600"/>
            <a:ext cx="49743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your changed files</a:t>
            </a:r>
            <a:endParaRPr lang="en-US" sz="13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</a:t>
            </a:r>
            <a:endParaRPr lang="en-US" sz="13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save the snapshot</a:t>
            </a:r>
            <a:endParaRPr lang="en-US" sz="13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-m "feat: add form"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77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add + commit as often as you like — they’re your safety net.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836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every message with a type: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0" y="2743200"/>
            <a:ext cx="457200" cy="45720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15" name="Image 0" descr="/home/claude/gitdeck/icons/FaCodeCommi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7980" y="2857500"/>
            <a:ext cx="228600" cy="2286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178040" y="27614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732520" y="276148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feature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3401568"/>
            <a:ext cx="457200" cy="45720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19" name="Image 1" descr="/home/claude/gitdeck/icons/FaWren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3515868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178040" y="341985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8732520" y="341985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fix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583680" y="4059936"/>
            <a:ext cx="457200" cy="45720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23" name="Image 2" descr="/home/claude/gitdeck/icons/FaFileLin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0" y="4174236"/>
            <a:ext cx="228600" cy="2286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178040" y="407822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8732520" y="40782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changes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583680" y="4718304"/>
            <a:ext cx="457200" cy="45720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27" name="Image 3" descr="/home/claude/gitdeck/icons/FaPaintbrus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7980" y="4832604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178040" y="47365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style: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8732520" y="473659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/ CSS only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6583680" y="5376672"/>
            <a:ext cx="457200" cy="45720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31" name="Image 4" descr="/home/claude/gitdeck/icons/FaArrowsRotat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980" y="5490972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178040" y="53949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refactor: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8732520" y="539496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restructure, same behaviour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STEP 4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your work with a Pull Request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1463040"/>
          </a:xfrm>
          <a:prstGeom prst="roundRect">
            <a:avLst>
              <a:gd name="adj" fmla="val 375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3852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3852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193852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2194560"/>
            <a:ext cx="4700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-u only on the first push</a:t>
            </a:r>
            <a:endParaRPr lang="en-US" sz="13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-u origin \</a:t>
            </a:r>
            <a:endParaRPr lang="en-US" sz="13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feature/add-contact-form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4290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 Request is you asking the team: </a:t>
            </a:r>
            <a:pPr indent="0" marL="0">
              <a:lnSpc>
                <a:spcPct val="115000"/>
              </a:lnSpc>
              <a:buNone/>
            </a:pPr>
            <a:r>
              <a:rPr lang="en-US" sz="1550" i="1" dirty="0">
                <a:solidFill>
                  <a:srgbClr val="C43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“please review my work and merge it into dev.”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080760" y="1737360"/>
            <a:ext cx="5577840" cy="4434840"/>
          </a:xfrm>
          <a:prstGeom prst="roundRect">
            <a:avLst>
              <a:gd name="adj" fmla="val 1856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PR DESCRIPTION ANSWERS: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2423160"/>
            <a:ext cx="457200" cy="45720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13" name="Image 0" descr="/home/claude/gitdeck/icons/FaCircle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0" y="2537460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995160" y="2404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27432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“Adds a contact form to the /contact page.”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0" y="3355848"/>
            <a:ext cx="457200" cy="45720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17" name="Image 1" descr="/home/claude/gitdeck/icons/FaCircle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3470148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99516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6995160" y="367588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Task #23 — lets users send us messages.”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00800" y="4288536"/>
            <a:ext cx="457200" cy="45720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21" name="Image 2" descr="/home/claude/gitdeck/icons/FaCircle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4402836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995160" y="4270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test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995160" y="460857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 to /contact, submit, check it saved.”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400800" y="5221224"/>
            <a:ext cx="457200" cy="457200"/>
          </a:xfrm>
          <a:prstGeom prst="ellipse">
            <a:avLst/>
          </a:prstGeom>
          <a:solidFill>
            <a:srgbClr val="F05032"/>
          </a:solidFill>
          <a:ln/>
        </p:spPr>
      </p:sp>
      <p:pic>
        <p:nvPicPr>
          <p:cNvPr id="25" name="Image 3" descr="/home/claude/gitdeck/icons/FaTriangleExclama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5335524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995160" y="52029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3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plan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6995160" y="55412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anything extra — new env vars, config, helpers.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STEP 5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Review, merge &amp; clean up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6" name="Image 0" descr="/home/claude/gitdeck/icons/FaArrowsRotat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86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changes are requested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788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on the same branch, then add + commit + push again. The PR updates automatically — no new PR needed.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0F7F1"/>
          </a:solidFill>
          <a:ln w="12700">
            <a:solidFill>
              <a:srgbClr val="2DA44E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03120"/>
            <a:ext cx="731520" cy="73152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11" name="Image 1" descr="/home/claude/gitdeck/icons/FaThumbs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860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7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approved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788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A5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senior dev with merge permissions clicks Merge. Your work is now officially in the dev branch — congrats!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CLEAN UP: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434840"/>
            <a:ext cx="6766560" cy="1600200"/>
          </a:xfrm>
          <a:prstGeom prst="roundRect">
            <a:avLst>
              <a:gd name="adj" fmla="val 34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672" y="463600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3"/>
          <p:cNvSpPr/>
          <p:nvPr/>
        </p:nvSpPr>
        <p:spPr>
          <a:xfrm>
            <a:off x="969264" y="463600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4"/>
          <p:cNvSpPr/>
          <p:nvPr/>
        </p:nvSpPr>
        <p:spPr>
          <a:xfrm>
            <a:off x="1133856" y="463600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804672" y="4892040"/>
            <a:ext cx="62544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dev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# back to dev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-d feature/add-contact-form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589520" y="4434840"/>
            <a:ext cx="4069080" cy="1600200"/>
          </a:xfrm>
          <a:prstGeom prst="roundRect">
            <a:avLst>
              <a:gd name="adj" fmla="val 5143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909560" y="4754880"/>
            <a:ext cx="640080" cy="64008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22" name="Image 2" descr="/home/claude/gitdeck/icons/FaBroom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491490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686800" y="461772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deleted. You’re ready for the next task — back to Step 2.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7452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D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 txBox="1"/>
          <p:nvPr/>
        </p:nvSpPr>
        <p:spPr>
          <a:xfrm>
            <a:off x="338328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364992" y="2697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&amp; Fixes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panic — every common error has a calm, simple recovery.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149840" y="640080"/>
            <a:ext cx="1188720" cy="118872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7" name="Image 0" descr="/home/claude/gitdeck/icons/FaWrench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7020" y="93726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&amp; FIXES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everyday situations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434840"/>
          </a:xfrm>
          <a:prstGeom prst="roundRect">
            <a:avLst>
              <a:gd name="adj" fmla="val 1856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“local changes would be overwritten”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edited files but haven’t committed, and pull wants to touch the same files. Tuck your changes aside, pull, then bring them back.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566160"/>
            <a:ext cx="4937760" cy="2331720"/>
          </a:xfrm>
          <a:prstGeom prst="roundRect">
            <a:avLst>
              <a:gd name="adj" fmla="val 235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376732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376732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08176" y="376732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78992" y="4023360"/>
            <a:ext cx="4425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stash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hide changes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now safe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stash pop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bring back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737360"/>
            <a:ext cx="5486400" cy="4434840"/>
          </a:xfrm>
          <a:prstGeom prst="roundRect">
            <a:avLst>
              <a:gd name="adj" fmla="val 1856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46520" y="1965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“my branch is old — dev moved on”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514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error yet — but it will cause conflicts later. Sync now to fix small conflicts on your own terms.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46520" y="3566160"/>
            <a:ext cx="4937760" cy="2331720"/>
          </a:xfrm>
          <a:prstGeom prst="roundRect">
            <a:avLst>
              <a:gd name="adj" fmla="val 235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552" y="376732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6867144" y="376732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031736" y="376732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02552" y="4023360"/>
            <a:ext cx="4425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dev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origin dev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feature/...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dev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&amp; FIXES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conflicts — the big one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43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normal! </a:t>
            </a:r>
            <a:pPr indent="0" marL="0">
              <a:buNone/>
            </a:pPr>
            <a:r>
              <a:rPr lang="en-US" sz="15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edited the same line. Git can’t choose — it needs a human.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806440" cy="2788920"/>
          </a:xfrm>
          <a:prstGeom prst="roundRect">
            <a:avLst>
              <a:gd name="adj" fmla="val 196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67128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2167128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2167128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423160"/>
            <a:ext cx="529437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4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color = "blue";</a:t>
            </a:r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YOURS</a:t>
            </a:r>
            <a:endParaRPr lang="en-US" sz="14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4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color = "red";</a:t>
            </a:r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from dev</a:t>
            </a:r>
            <a:endParaRPr lang="en-US" sz="14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dev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92040"/>
            <a:ext cx="5806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literally asking: “which one is correct — blue, red, or something else?”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0" y="1965960"/>
            <a:ext cx="5074920" cy="4206240"/>
          </a:xfrm>
          <a:prstGeom prst="roundRect">
            <a:avLst>
              <a:gd name="adj" fmla="val 1957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FIX IT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0" y="2606040"/>
            <a:ext cx="384048" cy="384048"/>
          </a:xfrm>
          <a:prstGeom prst="ellipse">
            <a:avLst/>
          </a:prstGeom>
          <a:solidFill>
            <a:srgbClr val="F0503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5786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panic. Open the file(s) Git lists.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0" y="3172968"/>
            <a:ext cx="384048" cy="384048"/>
          </a:xfrm>
          <a:prstGeom prst="ellipse">
            <a:avLst/>
          </a:prstGeom>
          <a:solidFill>
            <a:srgbClr val="F050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31455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markers &lt;&lt;&lt;&lt;, ====, &gt;&gt;&gt;&gt;.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0" y="3739896"/>
            <a:ext cx="384048" cy="384048"/>
          </a:xfrm>
          <a:prstGeom prst="ellipse">
            <a:avLst/>
          </a:prstGeom>
          <a:solidFill>
            <a:srgbClr val="F050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37124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text so it’s correct.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0" y="4306824"/>
            <a:ext cx="384048" cy="384048"/>
          </a:xfrm>
          <a:prstGeom prst="ellipse">
            <a:avLst/>
          </a:prstGeom>
          <a:solidFill>
            <a:srgbClr val="F050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42793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file.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0" y="4873752"/>
            <a:ext cx="384048" cy="384048"/>
          </a:xfrm>
          <a:prstGeom prst="ellipse">
            <a:avLst/>
          </a:prstGeom>
          <a:solidFill>
            <a:srgbClr val="F0503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0" y="4873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06640" y="4846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&amp; commit the resolution.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5440680"/>
            <a:ext cx="4526280" cy="566928"/>
          </a:xfrm>
          <a:prstGeom prst="roundRect">
            <a:avLst>
              <a:gd name="adj" fmla="val 967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14032" y="5550408"/>
            <a:ext cx="4014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 &amp;&amp;  </a:t>
            </a:r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&amp; FIXES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Rejected pushes &amp; a greyed-out merge button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219456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 w="12700">
            <a:solidFill>
              <a:srgbClr val="D6DDE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6" name="Image 0" descr="/home/claude/gitdeck/icons/FaCircleExclamation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2885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rejected (non-fast-forward)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487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has commits you don’t. Pull first to merge them, then push.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3127248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4712" y="3236976"/>
            <a:ext cx="4379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&amp;&amp;   </a:t>
            </a:r>
            <a:pPr algn="l" indent="0" marL="0">
              <a:lnSpc>
                <a:spcPct val="1220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</a:t>
            </a:r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72200" y="1737360"/>
            <a:ext cx="5486400" cy="4434840"/>
          </a:xfrm>
          <a:prstGeom prst="roundRect">
            <a:avLst>
              <a:gd name="adj" fmla="val 1856"/>
            </a:avLst>
          </a:prstGeom>
          <a:solidFill>
            <a:srgbClr val="FFF4F0"/>
          </a:solidFill>
          <a:ln w="12700">
            <a:solidFill>
              <a:srgbClr val="F05032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057400"/>
            <a:ext cx="685800" cy="685800"/>
          </a:xfrm>
          <a:prstGeom prst="ellipse">
            <a:avLst/>
          </a:prstGeom>
          <a:solidFill>
            <a:srgbClr val="F05032"/>
          </a:solidFill>
          <a:ln/>
        </p:spPr>
      </p:sp>
      <p:pic>
        <p:nvPicPr>
          <p:cNvPr id="13" name="Image 1" descr="/home/claude/gitdeck/icons/FaBa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0" y="222885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1520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438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“Merge” button is greyed out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6492240" y="26060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Git error — a branch-protection rule. A quality check hasn’t passed yet: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92240" y="3337560"/>
            <a:ext cx="457200" cy="45720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17" name="Image 2" descr="/home/claude/gitdeck/icons/FaCircleExclamati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540" y="345186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86600" y="3310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checks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7086600" y="36301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is red — open Details, fix, commit &amp; push.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92240" y="4178808"/>
            <a:ext cx="457200" cy="45720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21" name="Image 3" descr="/home/claude/gitdeck/icons/FaCircleExclama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293108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4151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approvals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7086600" y="447141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need a second reviewer to approve.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92240" y="5020056"/>
            <a:ext cx="457200" cy="457200"/>
          </a:xfrm>
          <a:prstGeom prst="ellipse">
            <a:avLst/>
          </a:prstGeom>
          <a:solidFill>
            <a:srgbClr val="1B1F24"/>
          </a:solidFill>
          <a:ln/>
        </p:spPr>
      </p:sp>
      <p:pic>
        <p:nvPicPr>
          <p:cNvPr id="25" name="Image 4" descr="/home/claude/gitdeck/icons/FaCircleExclamatio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540" y="5134356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86600" y="49926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out of date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7086600" y="53126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dev into your branch, then push again.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548640" y="416052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  <a:effectLst>
            <a:outerShdw sx="100000" sy="100000" kx="0" ky="0" algn="bl" rotWithShape="0" blurRad="88900" dist="25400" dir="5400000">
              <a:srgbClr val="AAB4BE">
                <a:alpha val="2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68680" y="4480560"/>
            <a:ext cx="731520" cy="73152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30" name="Image 5" descr="/home/claude/gitdeck/icons/FaCircleCheck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66344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78308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golden rule of errors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68680" y="5120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Git error is recoverable. Read the message, sync with dev, and ask your lead when in doubt.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WORKFLOW, IN ONE LINE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everyday loop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7464" y="228600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2D333B"/>
          </a:solidFill>
          <a:ln/>
        </p:spPr>
      </p:sp>
      <p:sp>
        <p:nvSpPr>
          <p:cNvPr id="5" name="Shape 3"/>
          <p:cNvSpPr/>
          <p:nvPr/>
        </p:nvSpPr>
        <p:spPr>
          <a:xfrm>
            <a:off x="1158088" y="2505456"/>
            <a:ext cx="731520" cy="731520"/>
          </a:xfrm>
          <a:prstGeom prst="ellipse">
            <a:avLst/>
          </a:prstGeom>
          <a:solidFill>
            <a:srgbClr val="F05032"/>
          </a:solidFill>
          <a:ln/>
        </p:spPr>
      </p:sp>
      <p:pic>
        <p:nvPicPr>
          <p:cNvPr id="6" name="Image 0" descr="/home/claude/gitdeck/icons/FaCodeBran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2688336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7464" y="32461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310232" y="260604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2566264" y="228600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2D333B"/>
          </a:solidFill>
          <a:ln/>
        </p:spPr>
      </p:sp>
      <p:sp>
        <p:nvSpPr>
          <p:cNvPr id="10" name="Shape 7"/>
          <p:cNvSpPr/>
          <p:nvPr/>
        </p:nvSpPr>
        <p:spPr>
          <a:xfrm>
            <a:off x="2986888" y="2505456"/>
            <a:ext cx="731520" cy="731520"/>
          </a:xfrm>
          <a:prstGeom prst="ellipse">
            <a:avLst/>
          </a:prstGeom>
          <a:solidFill>
            <a:srgbClr val="F05032"/>
          </a:solidFill>
          <a:ln/>
        </p:spPr>
      </p:sp>
      <p:pic>
        <p:nvPicPr>
          <p:cNvPr id="11" name="Image 1" descr="/home/claude/gitdeck/icons/FaCodeCommi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768" y="268833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66264" y="32461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139032" y="260604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4395064" y="228600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2D333B"/>
          </a:solidFill>
          <a:ln/>
        </p:spPr>
      </p:sp>
      <p:sp>
        <p:nvSpPr>
          <p:cNvPr id="15" name="Shape 11"/>
          <p:cNvSpPr/>
          <p:nvPr/>
        </p:nvSpPr>
        <p:spPr>
          <a:xfrm>
            <a:off x="4815688" y="2505456"/>
            <a:ext cx="731520" cy="731520"/>
          </a:xfrm>
          <a:prstGeom prst="ellipse">
            <a:avLst/>
          </a:prstGeom>
          <a:solidFill>
            <a:srgbClr val="F05032"/>
          </a:solidFill>
          <a:ln/>
        </p:spPr>
      </p:sp>
      <p:pic>
        <p:nvPicPr>
          <p:cNvPr id="16" name="Image 2" descr="/home/claude/gitdeck/icons/FaUploa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568" y="268833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395064" y="32461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5967832" y="260604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6223864" y="228600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2D333B"/>
          </a:solidFill>
          <a:ln/>
        </p:spPr>
      </p:sp>
      <p:sp>
        <p:nvSpPr>
          <p:cNvPr id="20" name="Shape 15"/>
          <p:cNvSpPr/>
          <p:nvPr/>
        </p:nvSpPr>
        <p:spPr>
          <a:xfrm>
            <a:off x="6644488" y="2505456"/>
            <a:ext cx="731520" cy="731520"/>
          </a:xfrm>
          <a:prstGeom prst="ellipse">
            <a:avLst/>
          </a:prstGeom>
          <a:solidFill>
            <a:srgbClr val="F05032"/>
          </a:solidFill>
          <a:ln/>
        </p:spPr>
      </p:sp>
      <p:pic>
        <p:nvPicPr>
          <p:cNvPr id="21" name="Image 3" descr="/home/claude/gitdeck/icons/FaCodePullReques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368" y="2688336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23864" y="32461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796632" y="260604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18"/>
          <p:cNvSpPr/>
          <p:nvPr/>
        </p:nvSpPr>
        <p:spPr>
          <a:xfrm>
            <a:off x="8052664" y="228600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2D333B"/>
          </a:solidFill>
          <a:ln/>
        </p:spPr>
      </p:sp>
      <p:sp>
        <p:nvSpPr>
          <p:cNvPr id="25" name="Shape 19"/>
          <p:cNvSpPr/>
          <p:nvPr/>
        </p:nvSpPr>
        <p:spPr>
          <a:xfrm>
            <a:off x="8473288" y="2505456"/>
            <a:ext cx="731520" cy="731520"/>
          </a:xfrm>
          <a:prstGeom prst="ellipse">
            <a:avLst/>
          </a:prstGeom>
          <a:solidFill>
            <a:srgbClr val="F05032"/>
          </a:solidFill>
          <a:ln/>
        </p:spPr>
      </p:sp>
      <p:pic>
        <p:nvPicPr>
          <p:cNvPr id="26" name="Image 4" descr="/home/claude/gitdeck/icons/FaCodeMerg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6168" y="2688336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052664" y="32461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9625432" y="260604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6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2"/>
          <p:cNvSpPr/>
          <p:nvPr/>
        </p:nvSpPr>
        <p:spPr>
          <a:xfrm>
            <a:off x="9881464" y="228600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2D333B"/>
          </a:solidFill>
          <a:ln/>
        </p:spPr>
      </p:sp>
      <p:sp>
        <p:nvSpPr>
          <p:cNvPr id="30" name="Shape 23"/>
          <p:cNvSpPr/>
          <p:nvPr/>
        </p:nvSpPr>
        <p:spPr>
          <a:xfrm>
            <a:off x="10302088" y="2505456"/>
            <a:ext cx="731520" cy="731520"/>
          </a:xfrm>
          <a:prstGeom prst="ellipse">
            <a:avLst/>
          </a:prstGeom>
          <a:solidFill>
            <a:srgbClr val="2DA44E"/>
          </a:solidFill>
          <a:ln/>
        </p:spPr>
      </p:sp>
      <p:pic>
        <p:nvPicPr>
          <p:cNvPr id="31" name="Image 5" descr="/home/claude/gitdeck/icons/FaBroom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4968" y="2688336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881464" y="32461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595732" y="416052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22272E"/>
          </a:solidFill>
          <a:ln w="12700">
            <a:solidFill>
              <a:srgbClr val="333B44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70052" y="4434840"/>
            <a:ext cx="640080" cy="64008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35" name="Image 6" descr="/home/claude/gitdeck/icons/FaCodeBranch_oran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072" y="4594860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647292" y="44165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task = one branch</a:t>
            </a:r>
            <a:endParaRPr lang="en-US" sz="1550" dirty="0"/>
          </a:p>
        </p:txBody>
      </p:sp>
      <p:sp>
        <p:nvSpPr>
          <p:cNvPr id="37" name="Text 28"/>
          <p:cNvSpPr txBox="1"/>
          <p:nvPr/>
        </p:nvSpPr>
        <p:spPr>
          <a:xfrm>
            <a:off x="870052" y="50932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branch off an up-to-date dev.</a:t>
            </a:r>
            <a:endParaRPr lang="en-US" sz="1250" dirty="0"/>
          </a:p>
        </p:txBody>
      </p:sp>
      <p:sp>
        <p:nvSpPr>
          <p:cNvPr id="38" name="Shape 29"/>
          <p:cNvSpPr/>
          <p:nvPr/>
        </p:nvSpPr>
        <p:spPr>
          <a:xfrm>
            <a:off x="4335628" y="416052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22272E"/>
          </a:solidFill>
          <a:ln w="12700">
            <a:solidFill>
              <a:srgbClr val="333B44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4609948" y="4434840"/>
            <a:ext cx="640080" cy="64008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40" name="Image 7" descr="/home/claude/gitdeck/icons/FaCircleChec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9968" y="4594860"/>
            <a:ext cx="320040" cy="32004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387188" y="44165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small, sync often</a:t>
            </a:r>
            <a:endParaRPr lang="en-US" sz="1550" dirty="0"/>
          </a:p>
        </p:txBody>
      </p:sp>
      <p:sp>
        <p:nvSpPr>
          <p:cNvPr id="42" name="Text 32"/>
          <p:cNvSpPr txBox="1"/>
          <p:nvPr/>
        </p:nvSpPr>
        <p:spPr>
          <a:xfrm>
            <a:off x="4609948" y="50932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messages + daily syncs prevent big conflicts.</a:t>
            </a:r>
            <a:endParaRPr lang="en-US" sz="1250" dirty="0"/>
          </a:p>
        </p:txBody>
      </p:sp>
      <p:sp>
        <p:nvSpPr>
          <p:cNvPr id="43" name="Shape 33"/>
          <p:cNvSpPr/>
          <p:nvPr/>
        </p:nvSpPr>
        <p:spPr>
          <a:xfrm>
            <a:off x="8075524" y="416052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22272E"/>
          </a:solidFill>
          <a:ln w="12700">
            <a:solidFill>
              <a:srgbClr val="333B44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8349844" y="4434840"/>
            <a:ext cx="640080" cy="640080"/>
          </a:xfrm>
          <a:prstGeom prst="ellipse">
            <a:avLst/>
          </a:prstGeom>
          <a:solidFill>
            <a:srgbClr val="2D333B"/>
          </a:solidFill>
          <a:ln/>
        </p:spPr>
      </p:sp>
      <p:pic>
        <p:nvPicPr>
          <p:cNvPr id="45" name="Image 8" descr="/home/claude/gitdeck/icons/FaUsers_oran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9864" y="4594860"/>
            <a:ext cx="320040" cy="32004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9127084" y="441655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is a gift</a:t>
            </a:r>
            <a:endParaRPr lang="en-US" sz="1550" dirty="0"/>
          </a:p>
        </p:txBody>
      </p:sp>
      <p:sp>
        <p:nvSpPr>
          <p:cNvPr id="47" name="Text 36"/>
          <p:cNvSpPr txBox="1"/>
          <p:nvPr/>
        </p:nvSpPr>
        <p:spPr>
          <a:xfrm>
            <a:off x="8349844" y="50932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keep the whole team’s code stable and clean.</a:t>
            </a:r>
            <a:endParaRPr lang="en-US" sz="1250" dirty="0"/>
          </a:p>
        </p:txBody>
      </p:sp>
      <p:sp>
        <p:nvSpPr>
          <p:cNvPr id="48" name="Text 37"/>
          <p:cNvSpPr txBox="1"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Master this workflow — your success on real projects depends on it.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2026-09-04T14:14:30Z</dcterms:created>
  <dcterms:modified xsi:type="dcterms:W3CDTF">2026-09-04T14:14:30Z</dcterms:modified>
</cp:coreProperties>
</file>